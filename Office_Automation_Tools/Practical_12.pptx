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8" r:id="rId3"/>
    <p:sldId id="257" r:id="rId4"/>
    <p:sldId id="258" r:id="rId5"/>
    <p:sldId id="259" r:id="rId6"/>
    <p:sldId id="260" r:id="rId7"/>
    <p:sldId id="279" r:id="rId8"/>
    <p:sldId id="264" r:id="rId9"/>
    <p:sldId id="265" r:id="rId10"/>
    <p:sldId id="266" r:id="rId11"/>
    <p:sldId id="267" r:id="rId12"/>
    <p:sldId id="281" r:id="rId13"/>
    <p:sldId id="269" r:id="rId14"/>
    <p:sldId id="270" r:id="rId15"/>
    <p:sldId id="271" r:id="rId16"/>
    <p:sldId id="272" r:id="rId17"/>
    <p:sldId id="280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D9DBBB-E120-B193-7D2B-3B715BE86D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CB713-2E4A-8D26-D249-22F91C63D5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17AC9-DE34-467C-8108-A5643A5BF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1F15D-EBB5-CD23-DB2F-ECC65CA094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B7FE8-A5A9-96BF-EFD1-466265A076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C0E56-70DA-4D76-88E8-C60596C50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3072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DE228-BFAB-4F32-BA0A-E69C31D2A0E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7F873-500B-4F44-8CE4-6A971A8C7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300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2F764E2-D79D-4205-9FAF-16C54CBCF153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826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FE5A-426A-47A6-973A-4D36596444E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IN" dirty="0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970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84BD-66C3-400F-913D-82A1FD636F57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IN" dirty="0"/>
              <a:t>Physics</a:t>
            </a:r>
            <a:endParaRPr lang="en-IN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C0FB8C94-0E3E-4ECA-9C9C-D6677372537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584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C3DD-9BA8-42F6-A909-B9D693BCBC7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36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414CA-7959-4173-9724-E6F986DDF79F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781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9556-805A-4849-B68A-9540F8ED1308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57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F9AF-CA46-4D67-AFB9-9664DDBE2A6E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85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9CAD-106A-4A89-8C11-E751D8677B6D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3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5B343-74B1-4A3F-9DE9-246278627E71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30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1370-C24D-4207-8EEC-228B1B8CE1C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22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F8F6-190D-4E40-8735-B1901F0E20B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27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58D5-F363-4461-B6AC-268A49D1A50E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99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67F1-1BAB-4D30-90E6-2A22B8BAD68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436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0757-0BAC-48D5-BBA3-6BCB9558D65E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0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E981-41BD-4085-941F-327226AEE505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66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83317-F811-4BEB-9AB1-9AC7CB9E5CC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84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1D4D-7570-4CB8-9C8A-15EF8DC28583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29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848912-89B2-46F3-AE10-7DDA55CD4E37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 sz="1200" dirty="0"/>
              <a:t>Physics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0FB8C94-0E3E-4ECA-9C9C-D6677372537A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349A7-4F3B-1AAF-BE1B-B702A000007D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17226" y="182499"/>
            <a:ext cx="1155234" cy="11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02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CD4B-3566-1D05-E071-0E912ED35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Physics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8A176-9EA6-17D6-BF99-E1303BC08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fundamental natural science that studies matter, energy, space, time, and how they interact with each 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48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08FE-B486-B924-B5E1-E0FAAE92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64CC6-8A3A-EDE5-109F-623522F54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Substance of the Universe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266BD-CD83-76D6-AFB8-652EBF783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0219"/>
            <a:ext cx="4971210" cy="3621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0DE07-6EAE-8513-C073-58555BD5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Physics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907E5-EC0F-97A9-FEBC-3AB5266F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497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4F0C-D777-5C0D-D734-352DE9BF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Matter?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95A6149-C370-97DA-4786-CBE1055F4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417274"/>
            <a:ext cx="9556975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Definition: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Anything that has mass and takes up volume (occupies space).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Mass: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measure of the amount of substance in an object, remaining constant regardless of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Volume: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three-dimensional space that an object or substance occupies.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Composition: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Composed of fundamental particles called atoms (protons, neutrons, and electrons).</a:t>
            </a:r>
            <a:r>
              <a:rPr kumimoji="0" lang="en-US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37EC1-2280-8363-B840-D882A64E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B3502-D9E7-C6B4-E319-992E8F20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7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9BD7-7324-C02E-33E6-9D2ED3A8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Primary States of Matter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9931-D084-0F70-2708-5CB5A5B9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150"/>
            <a:ext cx="10131425" cy="3649133"/>
          </a:xfrm>
        </p:spPr>
        <p:txBody>
          <a:bodyPr/>
          <a:lstStyle/>
          <a:p>
            <a:r>
              <a:rPr lang="en-IN" b="1" dirty="0"/>
              <a:t>Solid:</a:t>
            </a:r>
            <a:r>
              <a:rPr lang="en-IN" dirty="0"/>
              <a:t> Definite shape and volume; tightly packed particles (e.g., Ice, Iron).</a:t>
            </a:r>
          </a:p>
          <a:p>
            <a:endParaRPr lang="en-IN" dirty="0"/>
          </a:p>
          <a:p>
            <a:r>
              <a:rPr lang="en-IN" b="1" dirty="0"/>
              <a:t>Liquid:</a:t>
            </a:r>
            <a:r>
              <a:rPr lang="en-IN" dirty="0"/>
              <a:t> Definite volume but takes container shape; sliding particles (e.g., Water, Oil).</a:t>
            </a:r>
          </a:p>
          <a:p>
            <a:endParaRPr lang="en-IN" dirty="0"/>
          </a:p>
          <a:p>
            <a:r>
              <a:rPr lang="en-IN" b="1" dirty="0"/>
              <a:t>Gas:</a:t>
            </a:r>
            <a:r>
              <a:rPr lang="en-IN" dirty="0"/>
              <a:t> No definite shape or volume; rapidly moving, distant particles (e.g., Air, Helium).</a:t>
            </a:r>
          </a:p>
          <a:p>
            <a:endParaRPr lang="en-IN" dirty="0"/>
          </a:p>
          <a:p>
            <a:r>
              <a:rPr lang="en-IN" b="1" dirty="0"/>
              <a:t>Plasma:</a:t>
            </a:r>
            <a:r>
              <a:rPr lang="en-IN" dirty="0"/>
              <a:t> Highly energetic, ionized gas consisting of free electrons and ions (e.g., Stars, Lightning).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F835D-13B8-9875-57E4-8DAE4A15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91DE5-9A26-413B-0AA3-FC83A8CB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1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50A8-12C5-5F1F-2335-931A6247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Physical vs. Chemical Properties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C83658-840E-1D59-417F-A9657A88B4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198" y="2065867"/>
            <a:ext cx="1082360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Physical Properties: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Observed without changing substance identity (e.g., density, boiling point).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Google Sans"/>
              </a:rPr>
              <a:t>              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Can be intensive or extensive.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Chemical Properties: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Describe the ability to transform into a new substance (e.g., flammability, toxicity, reactivity).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Google Sans"/>
              </a:rPr>
              <a:t>                 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Only observable during a chemical reaction.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53D8E-4A09-1F64-2837-484F0009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7130B-ADB6-41A9-8437-4E7F9B15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893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7737-EF0B-ECF5-3C0E-EED4284C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Cosmic Scale: Matter &amp; Energy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1B1E-A466-037F-CF22-421AF0FBC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04433"/>
            <a:ext cx="10131425" cy="3649133"/>
          </a:xfrm>
        </p:spPr>
        <p:txBody>
          <a:bodyPr/>
          <a:lstStyle/>
          <a:p>
            <a:r>
              <a:rPr lang="en-US" b="1" dirty="0"/>
              <a:t>Law of Conservation of Mass:</a:t>
            </a:r>
            <a:r>
              <a:rPr lang="en-US" dirty="0"/>
              <a:t> Matter cannot be created or destroyed, only transformed.</a:t>
            </a:r>
          </a:p>
          <a:p>
            <a:endParaRPr lang="en-US" dirty="0"/>
          </a:p>
          <a:p>
            <a:r>
              <a:rPr lang="en-US" b="1" dirty="0"/>
              <a:t>Mass-Energy Equivalence:</a:t>
            </a:r>
            <a:r>
              <a:rPr lang="en-US" dirty="0"/>
              <a:t> Einstein's \(E=mc^2\) demonstrates that mass and energy are interchangeable.</a:t>
            </a:r>
          </a:p>
          <a:p>
            <a:endParaRPr lang="en-US" dirty="0"/>
          </a:p>
          <a:p>
            <a:r>
              <a:rPr lang="en-US" b="1" dirty="0"/>
              <a:t>Cosmic Breakdown:</a:t>
            </a:r>
            <a:r>
              <a:rPr lang="en-US" dirty="0"/>
              <a:t> Normal visible matter makes up only about 5% of the universe, while Dark Matter (~27%) and Dark Energy (~68%) comprise the rest.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4DDFD-3B39-4942-03C1-925152CB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CA946-9CE0-F474-AECD-8178E87D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52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1AAF-92ED-9A17-70BC-14C3E30F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E3B1-0309-0106-96DA-605B7F2A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Energy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4B9AF-0510-2FEB-170E-B57BB3848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Driver of the Universe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29DF2-6984-F2E0-0CC1-3E9652FB3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13" y="1696534"/>
            <a:ext cx="5642162" cy="32240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2214F-8CF9-82E8-6B88-4EFAD770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6BDCC-15BE-BE66-DE6C-F1B2A28A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191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D002-20A7-D694-0E2C-066172279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Energy?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A38ADC-BD43-F960-A41A-3C917060B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65867"/>
            <a:ext cx="8042138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Definition: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capacity or ability to do work, cause movement, or change matter.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Measurement: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Measured in Joules (J) in the International System of Units (SI).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Nature: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Cannot be touched or seen directly, but its effects on matter are observable.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Work: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Defined in physics as a force moving an object over a distance (W = F × d).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37606-73A1-46EC-40A8-DD486F2F9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13AC2-67FA-C9D4-D2CC-23BBBF58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66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397B-EFE9-DCA6-2DB9-867A23FF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Main Categories of Energy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760747-63BF-67C5-DD41-346843332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65867"/>
            <a:ext cx="105694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Potential Energy: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Stored energy based on position or state (e.g., a stretched rubber band, water behind a dam).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Kinetic Energy: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energy of an object in motion, depending on mass and speed (\(KE = \frac{1}{2}mv^2\)).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Mechanical Energy: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sum of potential and kinetic energy in a physical system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7025C-76EF-0257-A2D2-1B9E31B8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DA0F0-FB24-8F68-F897-C05FBCB9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3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F0E2-5A9E-D64D-2542-CCEDE5F2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Conservation of Energy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0284-6C20-0BD7-C111-5408CC58D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54125"/>
            <a:ext cx="10131425" cy="19498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Law:</a:t>
            </a:r>
            <a:r>
              <a:rPr lang="en-US" dirty="0"/>
              <a:t> Energy cannot be created or destroyed, only transformed from one form to another.</a:t>
            </a:r>
          </a:p>
          <a:p>
            <a:endParaRPr lang="en-US" dirty="0"/>
          </a:p>
          <a:p>
            <a:r>
              <a:rPr lang="en-US" b="1" dirty="0"/>
              <a:t>Total Energy:</a:t>
            </a:r>
            <a:r>
              <a:rPr lang="en-US" dirty="0"/>
              <a:t> The total amount of energy in a closed system always remains constant.</a:t>
            </a:r>
          </a:p>
          <a:p>
            <a:endParaRPr lang="en-US" dirty="0"/>
          </a:p>
          <a:p>
            <a:r>
              <a:rPr lang="en-US" b="1" dirty="0"/>
              <a:t>Efficiency:</a:t>
            </a:r>
            <a:r>
              <a:rPr lang="en-US" dirty="0"/>
              <a:t> In energy transformations, some energy is always "lost" as unusable heat due to friction.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1A33A-0BA1-8173-78E0-81F1E4B3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F2242-006F-2A5B-EFF8-D6C0998A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256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D892-8AEF-3E9B-E7B6-465D7519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Spectrum of Energy Forms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25B161-85A6-8C85-5899-EB25A48C6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65867"/>
            <a:ext cx="100024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Thermal &amp; Radiant: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Heat generated by moving atoms, and light energy moving in electromagnetic waves.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Chemical &amp; Nuclear: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Energy stored in molecular bonds (food, fuel), and energy locked in atomic nuclei.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Electrical: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Energy produced by the movement of electrons through a conductor.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D1319-6097-2388-1512-629A28DC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A4867-B5DE-EB2A-1E1A-9A02819C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12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C9A9-4305-6496-E9D9-DC271C39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0166-ED85-D86A-5FF4-4B3FBC7F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36FCA-C633-56B5-0D4D-F2BF8A6F6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of Change and Motion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6BAD6-84CF-C336-32F0-6DD33C9E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13" y="1220219"/>
            <a:ext cx="5284232" cy="35808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CE901-8986-F769-057C-F17FD1B5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D763-13B2-A751-5A2F-3F89E546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78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DC78-39D8-796E-DD76-1BED026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Force?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BA7AAC-A50C-9352-3212-69B3D4F4B1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54165"/>
            <a:ext cx="916340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Definition: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push or pull exerted on an object resulting from its interaction with another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Measurement: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Measured in Newtons (N) in the International System of Units (SI).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Vector Quantity: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Forces have both magnitude (strength) and direction, represented by arrows.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Net Force: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combination of all forces acting on an object determines its acceleration.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11599-F13D-08DB-0183-0A2B05F1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54FFD-E9D4-CC78-DAEB-58E3B7F7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29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7689-8C74-132E-0877-2611A5DD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Force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1065-D72E-2A89-D711-324657FA4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/>
          <a:lstStyle/>
          <a:p>
            <a:r>
              <a:rPr lang="en-US" b="1" dirty="0"/>
              <a:t>Contact Forces:</a:t>
            </a:r>
            <a:r>
              <a:rPr lang="en-US" dirty="0"/>
              <a:t> Physics interactions requiring physical touch (e.g., Friction, Tension, Normal Force, Air Resistance).</a:t>
            </a:r>
          </a:p>
          <a:p>
            <a:endParaRPr lang="en-US" dirty="0"/>
          </a:p>
          <a:p>
            <a:r>
              <a:rPr lang="en-US" b="1" dirty="0"/>
              <a:t>Action-at-a-Distance Forces:</a:t>
            </a:r>
            <a:r>
              <a:rPr lang="en-US" dirty="0"/>
              <a:t> Forces that act even when objects are separated (e.g., Gravity, Magnetic Force, Electrical Force).</a:t>
            </a:r>
          </a:p>
          <a:p>
            <a:endParaRPr lang="en-US" dirty="0"/>
          </a:p>
          <a:p>
            <a:r>
              <a:rPr lang="en-US" b="1" dirty="0"/>
              <a:t>Balanced vs. Unbalanced:</a:t>
            </a:r>
            <a:r>
              <a:rPr lang="en-US" dirty="0"/>
              <a:t> Balanced forces cause no change in motion. Unbalanced forces cause objects to accelerate.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C8B3-33AF-5672-AB26-A2F92E87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AECBE-8EF1-19C9-D68E-F641C89E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08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0FFC-676C-C2BA-F131-5A5B7BAB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Newton's Laws of Motion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84E0D8-1ABE-8461-AA93-F948C6D556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73443"/>
            <a:ext cx="10244215" cy="182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First Law (Inertia):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An object at rest stays at rest, and an object in motion stays in motion unless acted upon </a:t>
            </a:r>
            <a:endParaRPr lang="en-US" altLang="en-US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by a net force.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Second Law (Acceleration):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Force equals mass times acceleration (F = ma).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Third Law (Action-Reaction):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For every action, there is an equal and opposite reaction.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D1178-E20D-BB07-1892-21AE781A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93489-EBE7-ABCD-92C4-22D5797A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956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B287-7A8D-3595-DD73-C0E869E5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Fundamental Forces of Nature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233D7B-9858-C213-6C4C-07526CD3BB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73444"/>
            <a:ext cx="1012238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Gravity: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Attractive force between masses; weakest force but operates over infinite distances.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Electromagnetism: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Force between charged particles; responsible for electricity, magnetism, and chemistry.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Strong Nuclear: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Binds protons and neutrons together in atomic nuclei; strongest force but short-range.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Weak Nuclear: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Responsible for radioactive decay and initiating the nuclear fusion that powers stars.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854FB-A17A-7565-6F84-C2AC9731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B4412-505D-326C-8A8F-9AF7718C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355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DAC2-EF85-5DD0-2302-83B4EC34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B99F-8418-5BCC-0727-32F049F7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Space and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E645B-A333-8268-A740-FE32549DB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Fabric of the Cosmos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E9465-592A-C6BD-2101-0185608CA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1"/>
          <a:stretch>
            <a:fillRect/>
          </a:stretch>
        </p:blipFill>
        <p:spPr>
          <a:xfrm>
            <a:off x="5751513" y="1220219"/>
            <a:ext cx="5867400" cy="32885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C108B-8C71-FE3E-FBEE-7C90C93F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D2BF8-96EE-0A4A-4FCC-18FFCDB2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03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6DA6-9A0E-1237-53F7-F2A7870E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Views of Space and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BF24-75DA-DEE7-C96C-18352495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/>
          <a:lstStyle/>
          <a:p>
            <a:r>
              <a:rPr lang="en-US" b="1" dirty="0"/>
              <a:t>Absolute Space:</a:t>
            </a:r>
            <a:r>
              <a:rPr lang="en-US" dirty="0"/>
              <a:t> Isaac Newton's view of space as a fixed, unmovable stage where physics happens.</a:t>
            </a:r>
          </a:p>
          <a:p>
            <a:endParaRPr lang="en-US" dirty="0"/>
          </a:p>
          <a:p>
            <a:r>
              <a:rPr lang="en-US" b="1" dirty="0"/>
              <a:t>Absolute Time:</a:t>
            </a:r>
            <a:r>
              <a:rPr lang="en-US" dirty="0"/>
              <a:t> The classical idea that time flows at the exact same rate everywhere in the universe.</a:t>
            </a:r>
          </a:p>
          <a:p>
            <a:endParaRPr lang="en-US" dirty="0"/>
          </a:p>
          <a:p>
            <a:r>
              <a:rPr lang="en-US" b="1" dirty="0"/>
              <a:t>Independence:</a:t>
            </a:r>
            <a:r>
              <a:rPr lang="en-US" dirty="0"/>
              <a:t> In classical mechanics, space and time are separate, unchanging entities.</a:t>
            </a:r>
          </a:p>
          <a:p>
            <a:endParaRPr lang="en-US" dirty="0"/>
          </a:p>
          <a:p>
            <a:r>
              <a:rPr lang="en-US" b="1" dirty="0"/>
              <a:t>Limitations:</a:t>
            </a:r>
            <a:r>
              <a:rPr lang="en-US" dirty="0"/>
              <a:t> This framework works for everyday speeds but fails at extreme speeds and gravity.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C426F-0BF0-12E7-B75F-A4A7EB3A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196AF-EAB6-1BA4-6130-F72B6822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34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C2CC-A551-9C18-0FCD-C2F25AFD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Einstein's Breakthrough: Spacetime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3BF4-B7FC-31BA-2FDA-6A01EB559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Unification:</a:t>
            </a:r>
            <a:r>
              <a:rPr lang="en-US" dirty="0"/>
              <a:t> Albert Einstein merged three dimensions of space and one dimension of time into a 4D fabric.</a:t>
            </a:r>
          </a:p>
          <a:p>
            <a:endParaRPr lang="en-US" dirty="0"/>
          </a:p>
          <a:p>
            <a:r>
              <a:rPr lang="en-US" b="1" dirty="0"/>
              <a:t>The Speed of Light:</a:t>
            </a:r>
            <a:r>
              <a:rPr lang="en-US" dirty="0"/>
              <a:t> Light travels at a constant speed (c) for all observers, no matter their motion.</a:t>
            </a:r>
          </a:p>
          <a:p>
            <a:endParaRPr lang="en-US" dirty="0"/>
          </a:p>
          <a:p>
            <a:r>
              <a:rPr lang="en-US" b="1" dirty="0"/>
              <a:t>Relativity:</a:t>
            </a:r>
            <a:r>
              <a:rPr lang="en-US" dirty="0"/>
              <a:t> Because light's speed is constant, space and time must stretch or shrink depending on speed.</a:t>
            </a:r>
          </a:p>
          <a:p>
            <a:endParaRPr lang="en-US" dirty="0"/>
          </a:p>
          <a:p>
            <a:r>
              <a:rPr lang="en-US" b="1" dirty="0"/>
              <a:t>Frame of Reference:</a:t>
            </a:r>
            <a:r>
              <a:rPr lang="en-US" dirty="0"/>
              <a:t> Measurement of time and distance depends entirely on the observer's relative motion.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90DBB-A0CC-0977-5BAB-CCF85AF3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E2AD3-EF18-524B-4751-ED551CBE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08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B41E-BFB6-6BB3-C9EB-93474DC5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Dilation and Length Contraction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B746A3-EB77-5AE2-86E5-07E0780A3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21004"/>
            <a:ext cx="999722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Time Dilation: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Moving clocks run slower relative to a stationary observer.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Twin Paradox: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traveling astronaut ages slower than their twin who remains on Earth.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Length Contraction: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Objects moving close to light speed shrink in length along their direction of motion.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Cosmic Muons: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Particles created in Earth's atmosphere survive long enough to hit the ground because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Google Sans"/>
              </a:rPr>
              <a:t>        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time dilation.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4AB82-4A52-8DEF-B385-DDE5E7B3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72D6E-D8B8-83C8-36EC-9293DC69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632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78C3-0FFF-617E-5F66-624D1ECC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Gravity as Curved Spacetime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07FCC7-EEF9-77F8-105C-08883CF02B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244060"/>
            <a:ext cx="9574672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General Relativity: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Gravity is not a pulling force, but the warping of spacetime by mass.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The Analogy: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Heavy objects bend spacetime like a bowling ball resting on a trampoline.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Orbital Motion: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Planets orbit the Sun because they are following straight lines through curved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Extreme Curvature: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Black holes warp spacetime so severely that nothing, not even light, can escape.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529F1-5CDE-9831-D13F-3D86B162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82D0B-3107-500A-4102-27C7DA96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B8C94-0E3E-4ECA-9C9C-D6677372537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729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102</TotalTime>
  <Words>1226</Words>
  <Application>Microsoft Office PowerPoint</Application>
  <PresentationFormat>Widescreen</PresentationFormat>
  <Paragraphs>167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Google Sans</vt:lpstr>
      <vt:lpstr>Celestial</vt:lpstr>
      <vt:lpstr>Physics</vt:lpstr>
      <vt:lpstr>Matter</vt:lpstr>
      <vt:lpstr>What is Matter?</vt:lpstr>
      <vt:lpstr>The Primary States of Matter</vt:lpstr>
      <vt:lpstr>Physical vs. Chemical Properties</vt:lpstr>
      <vt:lpstr>The Cosmic Scale: Matter &amp; Energy</vt:lpstr>
      <vt:lpstr>Energy</vt:lpstr>
      <vt:lpstr>What is Energy?</vt:lpstr>
      <vt:lpstr>Two Main Categories of Energy</vt:lpstr>
      <vt:lpstr>Law of Conservation of Energy</vt:lpstr>
      <vt:lpstr>The Spectrum of Energy Forms</vt:lpstr>
      <vt:lpstr>Force</vt:lpstr>
      <vt:lpstr>What is Force?</vt:lpstr>
      <vt:lpstr>Types of Force </vt:lpstr>
      <vt:lpstr>Newton's Laws of Motion</vt:lpstr>
      <vt:lpstr>The Four Fundamental Forces of Nature</vt:lpstr>
      <vt:lpstr>Space and Time</vt:lpstr>
      <vt:lpstr>Classical Views of Space and Time</vt:lpstr>
      <vt:lpstr>Einstein's Breakthrough: Spacetime</vt:lpstr>
      <vt:lpstr>Time Dilation and Length Contraction</vt:lpstr>
      <vt:lpstr>Gravity as Curved Spacetime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7</cp:revision>
  <dcterms:created xsi:type="dcterms:W3CDTF">2026-08-26T05:23:04Z</dcterms:created>
  <dcterms:modified xsi:type="dcterms:W3CDTF">2026-09-09T05:42:39Z</dcterms:modified>
</cp:coreProperties>
</file>